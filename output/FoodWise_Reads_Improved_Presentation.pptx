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14fc0c941ed74fc7" Type="http://schemas.openxmlformats.org/officeDocument/2006/relationships/extended-properties" Target="docProps/app.xml"/><Relationship Id="Ra0af8b377b064522" Type="http://schemas.openxmlformats.org/package/2006/relationships/metadata/core-properties" Target="docProps/core.xml"/><Relationship Id="Rfdb6fa913c5a4388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159269ed7448d7"/>
  </p:sldMasterIdLst>
  <p:notesMasterIdLst>
    <p:notesMasterId xmlns:r="http://schemas.openxmlformats.org/officeDocument/2006/relationships" r:id="R7af8a0e560a64ba7"/>
  </p:notesMasterIdLst>
  <p:sldIdLst>
    <p:sldId xmlns:r="http://schemas.openxmlformats.org/officeDocument/2006/relationships" id="256" r:id="Re02fa2bb869445b2"/>
    <p:sldId xmlns:r="http://schemas.openxmlformats.org/officeDocument/2006/relationships" id="257" r:id="R928cd7bfb165423f"/>
    <p:sldId xmlns:r="http://schemas.openxmlformats.org/officeDocument/2006/relationships" id="258" r:id="R2710b947655a4d9d"/>
    <p:sldId xmlns:r="http://schemas.openxmlformats.org/officeDocument/2006/relationships" id="259" r:id="R81e5d3e9b78049fe"/>
    <p:sldId xmlns:r="http://schemas.openxmlformats.org/officeDocument/2006/relationships" id="260" r:id="R497ee967279e4614"/>
    <p:sldId xmlns:r="http://schemas.openxmlformats.org/officeDocument/2006/relationships" id="261" r:id="Re3d065fb76e54828"/>
    <p:sldId xmlns:r="http://schemas.openxmlformats.org/officeDocument/2006/relationships" id="262" r:id="Rf6b458df511248fd"/>
    <p:sldId xmlns:r="http://schemas.openxmlformats.org/officeDocument/2006/relationships" id="263" r:id="Rd61f453d264140a6"/>
    <p:sldId xmlns:r="http://schemas.openxmlformats.org/officeDocument/2006/relationships" id="264" r:id="R068a45e73d1943be"/>
    <p:sldId xmlns:r="http://schemas.openxmlformats.org/officeDocument/2006/relationships" id="265" r:id="R042083a1a0b742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42083a1a0b742e7" Type="http://schemas.openxmlformats.org/officeDocument/2006/relationships/slide" Target="slides/slide10.xml"/><Relationship Id="R068a45e73d1943be" Type="http://schemas.openxmlformats.org/officeDocument/2006/relationships/slide" Target="slides/slide9.xml"/><Relationship Id="R26eccf6c6a954946" Type="http://schemas.openxmlformats.org/officeDocument/2006/relationships/presProps" Target="presProps.xml"/><Relationship Id="R2710b947655a4d9d" Type="http://schemas.openxmlformats.org/officeDocument/2006/relationships/slide" Target="slides/slide3.xml"/><Relationship Id="R2f942ee1c3914453" Type="http://schemas.openxmlformats.org/officeDocument/2006/relationships/theme" Target="theme/theme1.xml"/><Relationship Id="R497ee967279e4614" Type="http://schemas.openxmlformats.org/officeDocument/2006/relationships/slide" Target="slides/slide5.xml"/><Relationship Id="R69159269ed7448d7" Type="http://schemas.openxmlformats.org/officeDocument/2006/relationships/slideMaster" Target="slideMasters/slideMaster1.xml"/><Relationship Id="R7af8a0e560a64ba7" Type="http://schemas.openxmlformats.org/officeDocument/2006/relationships/notesMaster" Target="notesMasters/notesMaster1.xml"/><Relationship Id="R81e5d3e9b78049fe" Type="http://schemas.openxmlformats.org/officeDocument/2006/relationships/slide" Target="slides/slide4.xml"/><Relationship Id="R928cd7bfb165423f" Type="http://schemas.openxmlformats.org/officeDocument/2006/relationships/slide" Target="slides/slide2.xml"/><Relationship Id="Ra8a845d024c94721" Type="http://schemas.openxmlformats.org/officeDocument/2006/relationships/tableStyles" Target="tableStyles.xml"/><Relationship Id="Rd61f453d264140a6" Type="http://schemas.openxmlformats.org/officeDocument/2006/relationships/slide" Target="slides/slide8.xml"/><Relationship Id="Re02fa2bb869445b2" Type="http://schemas.openxmlformats.org/officeDocument/2006/relationships/slide" Target="slides/slide1.xml"/><Relationship Id="Re3d065fb76e54828" Type="http://schemas.openxmlformats.org/officeDocument/2006/relationships/slide" Target="slides/slide6.xml"/><Relationship Id="Rf6b458df511248fd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7218f47d6dd14e6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89d806dd1d14424" Type="http://schemas.openxmlformats.org/officeDocument/2006/relationships/slide" Target="../slides/slide1.xml"/><Relationship Id="Re651a2b16ba3495d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41854f756434e63" Type="http://schemas.openxmlformats.org/officeDocument/2006/relationships/slide" Target="../slides/slide2.xml"/><Relationship Id="R616e49f20ee8436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0990ee4695d14362" Type="http://schemas.openxmlformats.org/officeDocument/2006/relationships/notesMaster" Target="../notesMasters/notesMaster1.xml"/><Relationship Id="R8a917b48dba846e0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a1fb0085b9b49e6" Type="http://schemas.openxmlformats.org/officeDocument/2006/relationships/notesMaster" Target="../notesMasters/notesMaster1.xml"/><Relationship Id="Rb3bf6fb63d384fae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eadde1e3d564c1a" Type="http://schemas.openxmlformats.org/officeDocument/2006/relationships/notesMaster" Target="../notesMasters/notesMaster1.xml"/><Relationship Id="Ra8fe959e73824824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583c588b0d5d4614" Type="http://schemas.openxmlformats.org/officeDocument/2006/relationships/slide" Target="../slides/slide6.xml"/><Relationship Id="R645c6bff73574238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62d5147eaa64446b" Type="http://schemas.openxmlformats.org/officeDocument/2006/relationships/slide" Target="../slides/slide7.xml"/><Relationship Id="R6f1040de54604e33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323cd75bf444313" Type="http://schemas.openxmlformats.org/officeDocument/2006/relationships/slide" Target="../slides/slide8.xml"/><Relationship Id="Rdc13d3e81aab464f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98103b3615e14f32" Type="http://schemas.openxmlformats.org/officeDocument/2006/relationships/notesMaster" Target="../notesMasters/notesMaster1.xml"/><Relationship Id="Rccd2b69116824cc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67e6372f1d7540fc" Type="http://schemas.openxmlformats.org/officeDocument/2006/relationships/notesMaster" Target="../notesMasters/notesMaster1.xml"/><Relationship Id="Rec943215acfd4f19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scope follows the attached Book Recommendation System and two-week bootcamp briefs.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Goodreads Best Cookbooks public list; Open Library Search API. Open Library guidance recommends batched, low-volume requests and local caching: https://openlibrary.org/developers/api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silhouette score is measured in the selected six-dimensional SVD space across 600 modelled books. ARI and NMI compare unsupervised clusters with held-out domains. Known domain and source topic were excluded from model 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the audience and invite questions about the data collection, clustering approach, evaluation, and Streamlit recommender.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c41782c793dd45e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c20ea2aeab9e406a" Type="http://schemas.openxmlformats.org/officeDocument/2006/relationships/slideLayout" Target="../slideLayouts/slideLayout1.xml"/><Relationship Id="Rf6bd6ad3a3a242bb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0ea2aeab9e40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e17756eeb1842f8" Type="http://schemas.openxmlformats.org/officeDocument/2006/relationships/slideLayout" Target="../slideLayouts/slideLayout1.xml"/><Relationship Id="R916ceb4b9f1749be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430922769d744821" Type="http://schemas.openxmlformats.org/officeDocument/2006/relationships/notesSlide" Target="../notesSlides/notesSlide2.xml"/><Relationship Id="Rcaf346e7f05c426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ebb02b9c8704f1d" Type="http://schemas.openxmlformats.org/officeDocument/2006/relationships/chart" Target="charts/chart1.xml"/><Relationship Id="R1731b910ac8a4916" Type="http://schemas.openxmlformats.org/officeDocument/2006/relationships/notesSlide" Target="../notesSlides/notesSlide3.xml"/><Relationship Id="Ra29756cc93af42c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87e06ea41a874d3c" Type="http://schemas.openxmlformats.org/officeDocument/2006/relationships/slideLayout" Target="../slideLayouts/slideLayout1.xml"/><Relationship Id="R8dbc921ca9e74f36" Type="http://schemas.openxmlformats.org/officeDocument/2006/relationships/notesSlide" Target="../notesSlides/notesSlide4.xml"/><Relationship Id="Rffe88db1ae394a37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58b672e10d2a4f23" Type="http://schemas.openxmlformats.org/officeDocument/2006/relationships/slideLayout" Target="../slideLayouts/slideLayout1.xml"/><Relationship Id="Rdff88e4c10cb4fc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2bc3a22ccefb4bd7" Type="http://schemas.openxmlformats.org/officeDocument/2006/relationships/notesSlide" Target="../notesSlides/notesSlide6.xml"/><Relationship Id="Reac92a86b38b4383" Type="http://schemas.openxmlformats.org/officeDocument/2006/relationships/slideLayout" Target="../slideLayouts/slideLayout1.xml"/><Relationship Id="Rf632e0b141e64c87" Type="http://schemas.openxmlformats.org/officeDocument/2006/relationships/chart" Target="charts/chart3.xml"/></Relationships>
</file>

<file path=ppt/slides/_rels/slide7.xml.rels><?xml version='1.0' encoding='UTF-8' standalone='yes'?>
<Relationships xmlns="http://schemas.openxmlformats.org/package/2006/relationships"><Relationship Id="Rb148776ce7904cb2" Type="http://schemas.openxmlformats.org/officeDocument/2006/relationships/notesSlide" Target="../notesSlides/notesSlide7.xml"/><Relationship Id="Rb9e1dcbfc5964dc7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35685b2c04924108" Type="http://schemas.openxmlformats.org/officeDocument/2006/relationships/notesSlide" Target="../notesSlides/notesSlide8.xml"/><Relationship Id="Rd38acc4894a543f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b68c53388db4b63" Type="http://schemas.openxmlformats.org/officeDocument/2006/relationships/notesSlide" Target="../notesSlides/notesSlide9.xml"/><Relationship Id="R68d4d99e2f334c1a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1c9d97fb38194841" Type="http://schemas.openxmlformats.org/officeDocument/2006/relationships/slideLayout" Target="../slideLayouts/slideLayout1.xml"/><Relationship Id="Rcc56416fbbc247cf" Type="http://schemas.openxmlformats.org/officeDocument/2006/relationships/notesSlide" Target="../notesSlides/notesSlide10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Books</c:v>
          </c:tx>
          <c:spPr>
            <a:solidFill xmlns:a="http://schemas.openxmlformats.org/drawingml/2006/main">
              <a:srgbClr val="167A68"/>
            </a:solidFill>
          </c:spPr>
          <c:cat>
            <c:strRef>
              <c:f>'Chart Data'!$A$2:$A$3</c:f>
              <c:strCache>
                <c:ptCount val="2"/>
                <c:pt idx="0">
                  <c:v>Goodreads scrape</c:v>
                </c:pt>
                <c:pt idx="1">
                  <c:v>Open Library API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500</c:v>
                </c:pt>
                <c:pt idx="1">
                  <c:v>700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Books</c:v>
          </c:tx>
          <c:spPr>
            <a:solidFill xmlns:a="http://schemas.openxmlformats.org/drawingml/2006/main">
              <a:srgbClr val="167A68"/>
            </a:solidFill>
          </c:spPr>
          <c:cat>
            <c:strRef>
              <c:f>'Chart Data'!$A$2:$A$7</c:f>
              <c:strCache>
                <c:ptCount val="6"/>
                <c:pt idx="0">
                  <c:v>Agriculture</c:v>
                </c:pt>
                <c:pt idx="1">
                  <c:v>Baking and Pastry</c:v>
                </c:pt>
                <c:pt idx="2">
                  <c:v>Fermentation</c:v>
                </c:pt>
                <c:pt idx="3">
                  <c:v>Food Business</c:v>
                </c:pt>
                <c:pt idx="4">
                  <c:v>Food Safety</c:v>
                </c:pt>
                <c:pt idx="5">
                  <c:v>Nutrition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Silhouette score</c:v>
          </c:tx>
          <c:spPr>
            <a:ln xmlns:a="http://schemas.openxmlformats.org/drawingml/2006/main" w="28575">
              <a:solidFill>
                <a:srgbClr val="167A68"/>
              </a:solidFill>
            </a:ln>
          </c:spPr>
          <c:marker>
            <c:size val="8"/>
            <c:spPr>
              <a:solidFill xmlns:a="http://schemas.openxmlformats.org/drawingml/2006/main">
                <a:srgbClr val="167A68"/>
              </a:solidFill>
            </c:spPr>
          </c:marker>
          <c:cat>
            <c:numRef>
              <c:f>'Chart Data'!$A$2:$A$8</c:f>
              <c:numCache>
                <c:formatCode>General</c:formatCode>
                <c:ptCount val="7"/>
                <c:pt idx="0">
                  <c:v>5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15</c:v>
                </c:pt>
                <c:pt idx="6">
                  <c:v>20</c:v>
                </c:pt>
              </c:numCache>
            </c:num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0.5791</c:v>
                </c:pt>
                <c:pt idx="1">
                  <c:v>0.6093</c:v>
                </c:pt>
                <c:pt idx="2">
                  <c:v>0.4888</c:v>
                </c:pt>
                <c:pt idx="3">
                  <c:v>0.383</c:v>
                </c:pt>
                <c:pt idx="4">
                  <c:v>0.342</c:v>
                </c:pt>
                <c:pt idx="5">
                  <c:v>0.282</c:v>
                </c:pt>
                <c:pt idx="6">
                  <c:v>0.2283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SVD components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Silhouette</a:t>
                </a:r>
              </a:p>
            </c:rich>
          </c:tx>
          <c:overlay val="0"/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683860-EBDD-48DC-BE9E-1682E2B75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0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2C2F2-4EA0-45AF-84C5-88135DE5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001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FOOD +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976E0-460F-44D4-B088-B31DBF803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52550"/>
            <a:ext cx="666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7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FoodWise Reads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7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Book Recommender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54499A-B239-4922-9265-A3A9EC90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6191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A food-book discovery system using web scraping, APIs, leakage-controlled NLP, clustering, SQL and Streamlit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60A29-39B1-4ED1-B45C-483ADDE0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2197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Paul Omogiate Obamwonyi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D021F-F647-4D40-9976-BB9C0363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6388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Ironhack Data Analytics</a:t>
            </a:r>
          </a:p>
        </p:txBody>
      </p:sp>
    </p:spTree>
    <p:extLst>
      <p:ext uri="{BB962C8B-B14F-4D97-AF65-F5344CB8AC3E}">
        <p14:creationId xmlns:p14="http://schemas.microsoft.com/office/powerpoint/2010/main" val="14722391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385F07-A560-45B3-BAD2-5F0906D8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99A56-00D9-4780-9D44-2E7F7BD0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Problem and audience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6CE0B-F284-4301-A194-89103168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6A527-6475-4EEB-93D3-62EC6E5B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57300"/>
            <a:ext cx="1038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Food professionals and interested readers need a practical way to move from one useful book to related material across the food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A460B-C339-4930-BC88-D6765A6B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32575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7F218-3CAD-4166-8F8A-AFA1AFCC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552700"/>
            <a:ext cx="32575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00A5E-1600-42C8-A6A3-D0631F45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32575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F27474-102C-4FC7-A171-91575004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Coverage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A67FA4-5B30-4099-B54E-B5F2A38A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14700"/>
            <a:ext cx="266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Baking and Pastry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Nutrition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Food Safety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Agriculture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Fermentation and Food Business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8CEC5A-E7EA-4935-8D06-2337FFB7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7813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Method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42AC35-18B0-49F5-B30E-8FC1DC9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314700"/>
            <a:ext cx="266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TF-IDF subject modelling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SVD semantic reduction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K-Means neighbourhoods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Cosine similarity ranking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3B2E0F-33B1-40FC-95F1-3558DAA6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CB6365-54D9-467E-88E2-7E6E2103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14700"/>
            <a:ext cx="266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Selects a known title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Receives related books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Sees covers and source links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Can filter the food domain</a:t>
            </a:r>
          </a:p>
        </p:txBody>
      </p:sp>
    </p:spTree>
    <p:extLst>
      <p:ext uri="{BB962C8B-B14F-4D97-AF65-F5344CB8AC3E}">
        <p14:creationId xmlns:p14="http://schemas.microsoft.com/office/powerpoint/2010/main" val="8428073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28A066-4348-46B5-8A9E-8062A0B3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7B031-299C-4498-8B73-C5399C8B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Two collection routes produced 1,196 unique books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E9C61B-70AA-4F67-8C24-6C02E1A1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03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857250" y="1428750"/>
          <a:ext xmlns:a="http://schemas.openxmlformats.org/drawingml/2006/main" cx="61912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bb02b9c8704f1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5F892-4F36-4608-B205-9CFEA5E5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500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5A98E-31CD-4F69-82CB-562A84D1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00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cookbooks scraped from five public list pages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7E0F2-DA05-4595-9A48-4406D19C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45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700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840415-006E-4999-B0AB-72B23932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62425"/>
            <a:ext cx="3000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balanced food-domain API records collected before deduplication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031768-FE29-4E11-80F8-5A4CEC50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38750"/>
            <a:ext cx="3000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4 cross-source duplicates removed</a:t>
            </a:r>
          </a:p>
        </p:txBody>
      </p:sp>
    </p:spTree>
    <p:extLst>
      <p:ext uri="{BB962C8B-B14F-4D97-AF65-F5344CB8AC3E}">
        <p14:creationId xmlns:p14="http://schemas.microsoft.com/office/powerpoint/2010/main" val="18960481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22575F-85C5-4C85-B8FB-E2B1C8E1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12FCC-747A-4367-A85E-5B3E84B1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600 fit the model; 1,196 appear in the app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504265-67B8-40E9-ABB9-4B59AB2F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04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857250" y="1238250"/>
          <a:ext xmlns:a="http://schemas.openxmlformats.org/drawingml/2006/main" cx="7239000" cy="4762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e88db1ae394a3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043ED3-DFEB-4E80-A284-031D4EA7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47637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Cleaning 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FB0F3F-09EF-4AAE-B25D-8E9CB60D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38350"/>
            <a:ext cx="27146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All 1,196 books available in the app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Exceeded the 1,050-book target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Selected six clearer food domains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Fitted clusters with 100 books per domain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Removed collection labels from model text</a:t>
            </a:r>
          </a:p>
        </p:txBody>
      </p:sp>
    </p:spTree>
    <p:extLst>
      <p:ext uri="{BB962C8B-B14F-4D97-AF65-F5344CB8AC3E}">
        <p14:creationId xmlns:p14="http://schemas.microsoft.com/office/powerpoint/2010/main" val="6892633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D42254-5005-420D-B33A-D398E7B8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391D0-7306-428F-8A3A-4DEEEBDA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NLP and clustering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E7BE3-E186-4A74-B2D2-07C16815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E5445-40C4-4642-919D-E33C42DD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19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633FE-BA36-4C4E-B1F1-EC9BB3BD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33350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BA6AF-B3C0-4338-8E82-7E66B984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2858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Book metadata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EF8CF-AC0D-4AB8-8569-3A16DE3F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5525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00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Title and genuine subject metadata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23DFF2-31DE-471D-A1F9-1DDB827E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514475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E3092B-DEAE-4EA7-953B-2608CF9D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1907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82DED0-12AD-4F5A-93E2-16651E2A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0505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F48A54-86B2-4B1D-8BEA-DD285BC8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574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TF-IDF features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9A836-B1EB-4686-BFA8-7BDD5E1A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241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Unigrams and bigrams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1B3E42-EB04-4C41-9556-F3B751EE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486025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CD5D06-1100-489B-8659-32C4D081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623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D69DA5-9A61-4E34-93D2-9AE38B54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7660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2C9C52-A6AF-40DF-9613-96EB0D2D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289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SVD reduction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4D2B86-60DC-4DDB-94ED-9EDE53E2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95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Six semantic dimensions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1F220E-4F01-4580-A750-0317DD5C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457575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252B32-EF17-4F5F-99DA-A1373E5D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338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F47C4B-1882-4ACB-B4A1-01627E4A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4815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A5D4FD-571F-4FF1-87C9-884B3DDE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005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K-Means clusters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919BCF-07A3-4861-8479-2AC86006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672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53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Six stable neighbourhoods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43337E-DC98-4667-9D14-6107344F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29125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64F2A0-1470-4225-A835-8368967B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0DA204-0686-4269-A7A2-98717A0B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970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55213E-0826-46DA-A707-9DAE4E3F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720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9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Cosine ranking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D169F3-C766-4BC7-8037-8154A3EF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387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6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Nearest books inside cluster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7CB804-0600-4148-AD36-FCED26E4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428750"/>
            <a:ext cx="552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1021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32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The final model excludes known domain and source-topic labels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52ED37-E7D0-4BAE-A185-34E9D4F2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81225"/>
            <a:ext cx="561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The pipeline removes each collection-topic phrase from subject text before TF-IDF. Five random seeds produced the same solution.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82A1CD-5878-4854-BA4B-390F7248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38550"/>
            <a:ext cx="561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448CCA-3BC5-4821-9844-E85470FC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857625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Recommendation rule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F5CD35-2F49-4903-B90E-B7B750DB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30530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65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Same cluster first, then highest cosine similarity</a:t>
            </a:r>
          </a:p>
        </p:txBody>
      </p:sp>
    </p:spTree>
    <p:extLst>
      <p:ext uri="{BB962C8B-B14F-4D97-AF65-F5344CB8AC3E}">
        <p14:creationId xmlns:p14="http://schemas.microsoft.com/office/powerpoint/2010/main" val="12143560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44C3EC-1A26-4B3A-8B47-91516C6C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53C8B-A928-4D41-AAA2-45DA1CBC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Six focused clusters exceed the 0.50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A5806-85F2-449D-82C0-C5269928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06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762000" y="1333500"/>
          <a:ext xmlns:a="http://schemas.openxmlformats.org/drawingml/2006/main" cx="7239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32e0b141e64c87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DF63B-D8FD-4A8C-B1DB-E0A3249A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24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13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Validation beyond silhouette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BBC2C-BBC7-40D6-BF4D-0376E7FA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38350"/>
            <a:ext cx="2571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5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Metrics cover the balanced 600-book sample; the app indexes all 1,196 books.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0EEC81-4A3D-4BE1-B195-F736CA9E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2900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15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k = 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022BEF-87A8-413A-A0B0-B92ED2F8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Silhouette: 0.6093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ARI: 0.6665   NMI: 0.6667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Sample cluster range: 81-125 books</a:t>
            </a:r>
          </a:p>
        </p:txBody>
      </p:sp>
    </p:spTree>
    <p:extLst>
      <p:ext uri="{BB962C8B-B14F-4D97-AF65-F5344CB8AC3E}">
        <p14:creationId xmlns:p14="http://schemas.microsoft.com/office/powerpoint/2010/main" val="1594295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1D6FA5-B134-4A19-982B-ECE3686F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D36470-D150-422D-8C30-0B26A1EA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Recommendation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0C236-25E9-4F7E-ACF3-A2E07178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C1410D-4473-4B7C-A652-9CE83157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1239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8E97F-0286-477F-A828-BFF0FC0D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09B34D-E9D3-4A6E-8201-E7B0E889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049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49690-5767-44E8-B164-04B3EF5C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085850"/>
            <a:ext cx="857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D076B1-3C7A-424C-A6FD-BA0B5CF8E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162050"/>
            <a:ext cx="795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Match the selected title and author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B65A5-3A1E-4BF8-B765-AC48B411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830678-9176-432F-8930-D11BABEE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E08553-D3AB-41DA-92E7-4066EEC5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C91616-C311-43DE-91D1-DCBD70B8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038350"/>
            <a:ext cx="857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596456-54C5-4763-A36A-083EE420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14550"/>
            <a:ext cx="795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Read its K-Means cluster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B8D9F7-E7C6-47A2-8404-CFB58364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B78A6-51B1-420E-AB55-ED5BC2A1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15DDEE-EE25-4CDC-BBFD-486BB358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3940E5-8D25-47D7-9ED6-00AE6263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90850"/>
            <a:ext cx="857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81EAC6-BA80-475E-8775-0FAD75F2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67050"/>
            <a:ext cx="795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Apply an optional food-domain filter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D5BE2-41F7-427B-A210-411CB2FD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A71B10-AB96-4105-921A-2267A078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A151C4-92DB-46CC-9180-ECE07BC7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C734A0-E2C8-4E42-8933-84F04C54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943350"/>
            <a:ext cx="857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A92DE1-E318-40A2-9291-7942213B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019550"/>
            <a:ext cx="795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Rank candidates by cosine similarity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496437-BB33-4DD8-91D0-46C9CB9A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A647C0-B32D-439D-BE05-FA9A3D6E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31843F-5915-4244-B8AA-6A856421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14900"/>
            <a:ext cx="590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9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5613C6-CB78-48BF-8873-363E173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95850"/>
            <a:ext cx="857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DC061F-542A-420D-84B9-DA479B78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72050"/>
            <a:ext cx="795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Return books, covers and source links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CEA4E5-9A1C-4D8A-AE0E-A3FFEF36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1150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417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The selected book never recommends itself</a:t>
            </a:r>
          </a:p>
        </p:txBody>
      </p:sp>
    </p:spTree>
    <p:extLst>
      <p:ext uri="{BB962C8B-B14F-4D97-AF65-F5344CB8AC3E}">
        <p14:creationId xmlns:p14="http://schemas.microsoft.com/office/powerpoint/2010/main" val="7039198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80D095-6232-4AB1-AC06-756C8A7D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38F6A9-54C1-4118-8005-E97B251F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Data engineering and Streamlit app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3A31A-6A66-4BDB-B7DA-851F3D5B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2FE4C3-2464-4036-8AE1-F2C90C4A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57300"/>
            <a:ext cx="49530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50A66C-4969-4723-A73D-0EBA69BB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257300"/>
            <a:ext cx="52387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E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2F687-AA6A-4F5C-928A-788F3C29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621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SQLite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3F2D1D-DAE0-4F9E-848F-9D154788D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4000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Stores the clustered catalogue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Indexes title and cluster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Supports source counts, cluster sizes and top-rated queries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B0991-D3AA-4B73-ADEE-DC70C79A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5621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Streamlit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395931-F124-42EC-BF76-49050E20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52650"/>
            <a:ext cx="4191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Searchable title-author selector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Three to ten recommendations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Food-topic filter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Cover images, similarity scores and source links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8125D-FF7F-43B6-92F1-1B3BA357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530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1">
                <a:solidFill>
                  <a:srgbClr val="64736E"/>
                </a:solidFill>
                <a:latin typeface="Bitstream Charter"/>
                <a:ea typeface="Bitstream Charter"/>
                <a:cs typeface="Bitstream Charter"/>
              </a:rPr>
              <a:t>Proof of concept for browser delivery</a:t>
            </a:r>
          </a:p>
        </p:txBody>
      </p:sp>
    </p:spTree>
    <p:extLst>
      <p:ext uri="{BB962C8B-B14F-4D97-AF65-F5344CB8AC3E}">
        <p14:creationId xmlns:p14="http://schemas.microsoft.com/office/powerpoint/2010/main" val="12138956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9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8829A-F80E-4115-A988-779928E0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37F32C-23D6-49D2-97F9-6D4CEB0C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Findings, limitations and next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8676F-2C2B-4CE8-AAD9-36A2AD01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57200"/>
            <a:ext cx="45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D57DEB-DB53-48A6-98EB-0D30EC47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04925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1">
                <a:solidFill>
                  <a:srgbClr val="167A68"/>
                </a:solidFill>
                <a:latin typeface="Bitstream Charter"/>
                <a:ea typeface="Bitstream Charter"/>
                <a:cs typeface="Bitstream Charter"/>
              </a:rPr>
              <a:t>What the prototype proves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4D0D7-0742-48F9-8739-677B9CA7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4524375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The catalogue exceeds the 1,050-book requirement.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The expanded model still exceeds the 0.50 silhouette target.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Five random seeds reproduce the same 0.6093 score.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5F252-19C5-4848-9AF9-0DAD4297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30492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025" b="1">
                <a:solidFill>
                  <a:srgbClr val="D97706"/>
                </a:solidFill>
                <a:latin typeface="Bitstream Charter"/>
                <a:ea typeface="Bitstream Charter"/>
                <a:cs typeface="Bitstream Charter"/>
              </a:rPr>
              <a:t>What remains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507192-2874-44BA-B0BA-B09E5FC3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24050"/>
            <a:ext cx="4476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The 0.6093 score applies to the 600-book fitting sample.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Metadata similarity cannot represent personal taste.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17312B"/>
                </a:solidFill>
                <a:latin typeface="Bitstream Charter"/>
                <a:ea typeface="Bitstream Charter"/>
                <a:cs typeface="Bitstream Charter"/>
              </a:rPr>
              <a:t>The full catalogue has uneven cluster sizes.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E6885-22CF-4A8D-BD12-3F01CFC2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988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6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6311D1-4A8F-4D47-8A6A-64B8DA96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29200"/>
            <a:ext cx="923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7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Next: combine content similarity with reader behaviour, then evaluate clicks, saves and ratings</a:t>
            </a:r>
          </a:p>
        </p:txBody>
      </p:sp>
    </p:spTree>
    <p:extLst>
      <p:ext uri="{BB962C8B-B14F-4D97-AF65-F5344CB8AC3E}">
        <p14:creationId xmlns:p14="http://schemas.microsoft.com/office/powerpoint/2010/main" val="2396528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55D74-A6D6-4ED5-830C-FF55C0B9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5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F72"/>
          </a:solidFill>
          <a:ln xmlns:a="http://schemas.openxmlformats.org/drawingml/2006/main" w="0">
            <a:solidFill>
              <a:srgbClr val="177F72"/>
            </a:solidFill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AC393B-FC54-4DB8-92FC-F86E266A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8F1E5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F8F1E5"/>
                </a:solidFill>
                <a:latin typeface="Bitstream Charter"/>
                <a:ea typeface="Bitstream Charter"/>
                <a:cs typeface="Bitstream Charter"/>
              </a:rPr>
              <a:t>FOOD +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234A5-51F8-498B-A42B-5FF1B8F4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52625"/>
            <a:ext cx="666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73D3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350" b="1">
                <a:solidFill>
                  <a:srgbClr val="173D36"/>
                </a:solidFill>
                <a:latin typeface="Bitstream Charter"/>
                <a:ea typeface="Bitstream Charter"/>
                <a:cs typeface="Bitstream Charter"/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ACC208-93BE-44F4-A7B1-C77073E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E7821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1">
                <a:solidFill>
                  <a:srgbClr val="E78216"/>
                </a:solidFill>
                <a:latin typeface="Bitstream Charter"/>
                <a:ea typeface="Bitstream Charter"/>
                <a:cs typeface="Bitstream Charter"/>
              </a:rPr>
              <a:t>Questions?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BF90E-08D1-4425-B149-16AAAAAC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05250"/>
            <a:ext cx="600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9675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>
                <a:solidFill>
                  <a:srgbClr val="49675F"/>
                </a:solidFill>
                <a:latin typeface="Bitstream Charter"/>
                <a:ea typeface="Bitstream Charter"/>
                <a:cs typeface="Bitstream Charter"/>
              </a:rPr>
              <a:t>FoodWise Reads Book Recommender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DB746E-48B6-4DDC-AE1F-D1C4DDFB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77F7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050" b="1">
                <a:solidFill>
                  <a:srgbClr val="177F72"/>
                </a:solidFill>
                <a:latin typeface="Bitstream Charter"/>
                <a:ea typeface="Bitstream Charter"/>
                <a:cs typeface="Bitstream Charter"/>
              </a:rPr>
              <a:t>Paul Omogiate Obamwonyi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A627D-531E-474D-96D6-EB626720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387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82958E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>
                <a:solidFill>
                  <a:srgbClr val="82958E"/>
                </a:solidFill>
                <a:latin typeface="Bitstream Charter"/>
                <a:ea typeface="Bitstream Charter"/>
                <a:cs typeface="Bitstream Charter"/>
              </a:rPr>
              <a:t>Ironhack Data Analytics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B0860-1E3C-4DC9-860A-66AA3529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953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177F72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750" b="1">
                <a:solidFill>
                  <a:srgbClr val="177F72"/>
                </a:solidFill>
                <a:latin typeface="Bitstream Charter"/>
                <a:ea typeface="Bitstream Charter"/>
                <a:cs typeface="Bitstream Charter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484354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2026-09-23T23:54:16.8870000Z</dcterms:created>
  <dcterms:modified xsi:type="dcterms:W3CDTF">2026-09-23T23:54:16.8870000Z</dcterms:modified>
</coreProperties>
</file>