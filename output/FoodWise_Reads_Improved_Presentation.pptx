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af8b377b064522" /><Relationship Type="http://schemas.openxmlformats.org/officeDocument/2006/relationships/extended-properties" Target="/docProps/app.xml" Id="R14fc0c941ed74fc7" /><Relationship Type="http://schemas.openxmlformats.org/officeDocument/2006/relationships/officeDocument" Target="/ppt/presentation.xml" Id="Rfdb6fa913c5a43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159269ed7448d7"/>
  </p:sldMasterIdLst>
  <p:notesMasterIdLst>
    <p:notesMasterId xmlns:r="http://schemas.openxmlformats.org/officeDocument/2006/relationships" r:id="R7af8a0e560a64ba7"/>
  </p:notesMasterIdLst>
  <p:sldIdLst>
    <p:sldId xmlns:r="http://schemas.openxmlformats.org/officeDocument/2006/relationships" id="256" r:id="Re02fa2bb869445b2"/>
    <p:sldId xmlns:r="http://schemas.openxmlformats.org/officeDocument/2006/relationships" id="257" r:id="R928cd7bfb165423f"/>
    <p:sldId xmlns:r="http://schemas.openxmlformats.org/officeDocument/2006/relationships" id="258" r:id="R2710b947655a4d9d"/>
    <p:sldId xmlns:r="http://schemas.openxmlformats.org/officeDocument/2006/relationships" id="259" r:id="R81e5d3e9b78049fe"/>
    <p:sldId xmlns:r="http://schemas.openxmlformats.org/officeDocument/2006/relationships" id="260" r:id="R497ee967279e4614"/>
    <p:sldId xmlns:r="http://schemas.openxmlformats.org/officeDocument/2006/relationships" id="261" r:id="Re3d065fb76e54828"/>
    <p:sldId xmlns:r="http://schemas.openxmlformats.org/officeDocument/2006/relationships" id="262" r:id="Rf6b458df511248fd"/>
    <p:sldId xmlns:r="http://schemas.openxmlformats.org/officeDocument/2006/relationships" id="263" r:id="Rd61f453d264140a6"/>
    <p:sldId xmlns:r="http://schemas.openxmlformats.org/officeDocument/2006/relationships" id="264" r:id="R068a45e73d1943be"/>
    <p:sldId xmlns:r="http://schemas.openxmlformats.org/officeDocument/2006/relationships" id="265" r:id="R042083a1a0b742e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f942ee1c3914453" /><Relationship Type="http://schemas.openxmlformats.org/officeDocument/2006/relationships/slideMaster" Target="/ppt/slideMasters/slideMaster1.xml" Id="R69159269ed7448d7" /><Relationship Type="http://schemas.openxmlformats.org/officeDocument/2006/relationships/notesMaster" Target="/ppt/notesMasters/notesMaster1.xml" Id="R7af8a0e560a64ba7" /><Relationship Type="http://schemas.openxmlformats.org/officeDocument/2006/relationships/presProps" Target="/ppt/presProps.xml" Id="R26eccf6c6a954946" /><Relationship Type="http://schemas.openxmlformats.org/officeDocument/2006/relationships/tableStyles" Target="/ppt/tableStyles.xml" Id="Ra8a845d024c94721" /><Relationship Type="http://schemas.openxmlformats.org/officeDocument/2006/relationships/slide" Target="/ppt/slides/slide1.xml" Id="Re02fa2bb869445b2" /><Relationship Type="http://schemas.openxmlformats.org/officeDocument/2006/relationships/slide" Target="/ppt/slides/slide2.xml" Id="R928cd7bfb165423f" /><Relationship Type="http://schemas.openxmlformats.org/officeDocument/2006/relationships/slide" Target="/ppt/slides/slide3.xml" Id="R2710b947655a4d9d" /><Relationship Type="http://schemas.openxmlformats.org/officeDocument/2006/relationships/slide" Target="/ppt/slides/slide4.xml" Id="R81e5d3e9b78049fe" /><Relationship Type="http://schemas.openxmlformats.org/officeDocument/2006/relationships/slide" Target="/ppt/slides/slide5.xml" Id="R497ee967279e4614" /><Relationship Type="http://schemas.openxmlformats.org/officeDocument/2006/relationships/slide" Target="/ppt/slides/slide6.xml" Id="Re3d065fb76e54828" /><Relationship Type="http://schemas.openxmlformats.org/officeDocument/2006/relationships/slide" Target="/ppt/slides/slide7.xml" Id="Rf6b458df511248fd" /><Relationship Type="http://schemas.openxmlformats.org/officeDocument/2006/relationships/slide" Target="/ppt/slides/slide8.xml" Id="Rd61f453d264140a6" /><Relationship Type="http://schemas.openxmlformats.org/officeDocument/2006/relationships/slide" Target="/ppt/slides/slide9.xml" Id="R068a45e73d1943be" /><Relationship Type="http://schemas.openxmlformats.org/officeDocument/2006/relationships/slide" Target="/ppt/slides/slide10.xml" Id="R042083a1a0b742e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218f47d6dd14e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89d806dd1d14424" /><Relationship Type="http://schemas.openxmlformats.org/officeDocument/2006/relationships/notesMaster" Target="/ppt/notesMasters/notesMaster1.xml" Id="Re651a2b16ba349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1854f756434e63" /><Relationship Type="http://schemas.openxmlformats.org/officeDocument/2006/relationships/notesMaster" Target="/ppt/notesMasters/notesMaster1.xml" Id="R616e49f20ee843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917b48dba846e0" /><Relationship Type="http://schemas.openxmlformats.org/officeDocument/2006/relationships/notesMaster" Target="/ppt/notesMasters/notesMaster1.xml" Id="R0990ee4695d1436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bf6fb63d384fae" /><Relationship Type="http://schemas.openxmlformats.org/officeDocument/2006/relationships/notesMaster" Target="/ppt/notesMasters/notesMaster1.xml" Id="R8a1fb0085b9b49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e959e73824824" /><Relationship Type="http://schemas.openxmlformats.org/officeDocument/2006/relationships/notesMaster" Target="/ppt/notesMasters/notesMaster1.xml" Id="R2eadde1e3d564c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83c588b0d5d4614" /><Relationship Type="http://schemas.openxmlformats.org/officeDocument/2006/relationships/notesMaster" Target="/ppt/notesMasters/notesMaster1.xml" Id="R645c6bff735742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d5147eaa64446b" /><Relationship Type="http://schemas.openxmlformats.org/officeDocument/2006/relationships/notesMaster" Target="/ppt/notesMasters/notesMaster1.xml" Id="R6f1040de54604e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23cd75bf444313" /><Relationship Type="http://schemas.openxmlformats.org/officeDocument/2006/relationships/notesMaster" Target="/ppt/notesMasters/notesMaster1.xml" Id="Rdc13d3e81aab464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2b69116824cc1" /><Relationship Type="http://schemas.openxmlformats.org/officeDocument/2006/relationships/notesMaster" Target="/ppt/notesMasters/notesMaster1.xml" Id="R98103b3615e14f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c943215acfd4f19" /><Relationship Type="http://schemas.openxmlformats.org/officeDocument/2006/relationships/notesMaster" Target="/ppt/notesMasters/notesMaster1.xml" Id="R67e6372f1d7540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 follows the attached Book Recommendation System and two-week bootcamp briefs.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Goodreads Best Cookbooks public list; Open Library Search API. Open Library guidance recommends batched, low-volume requests and local caching: https://openlibrary.org/developers/api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silhouette score is measured in the selected six-dimensional SVD space across 600 modelled books. ARI and NMI compare unsupervised clusters with held-out domains. Known domain and source topic were excluded from model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 and invite questions about the data collection, clustering approach, evaluation, and Streamlit recommender.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782c793dd45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bd6ad3a3a242bb" /><Relationship Type="http://schemas.openxmlformats.org/officeDocument/2006/relationships/slideLayout" Target="/ppt/slideLayouts/slideLayout1.xml" Id="Rc20ea2aeab9e40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20ea2aeab9e40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7756eeb1842f8" /><Relationship Type="http://schemas.openxmlformats.org/officeDocument/2006/relationships/notesSlide" Target="/ppt/notesSlides/notesSlide1.xml" Id="R916ceb4b9f1749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346e7f05c4260" /><Relationship Type="http://schemas.openxmlformats.org/officeDocument/2006/relationships/notesSlide" Target="/ppt/notesSlides/notesSlide2.xml" Id="R430922769d7448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9756cc93af42c7" /><Relationship Type="http://schemas.openxmlformats.org/officeDocument/2006/relationships/chart" Target="/ppt/slides/charts/chart1.xml" Id="R0ebb02b9c8704f1d" /><Relationship Type="http://schemas.openxmlformats.org/officeDocument/2006/relationships/notesSlide" Target="/ppt/notesSlides/notesSlide3.xml" Id="R1731b910ac8a49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06ea41a874d3c" /><Relationship Type="http://schemas.openxmlformats.org/officeDocument/2006/relationships/chart" Target="/ppt/slides/charts/chart2.xml" Id="Rffe88db1ae394a37" /><Relationship Type="http://schemas.openxmlformats.org/officeDocument/2006/relationships/notesSlide" Target="/ppt/notesSlides/notesSlide4.xml" Id="R8dbc921ca9e74f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672e10d2a4f23" /><Relationship Type="http://schemas.openxmlformats.org/officeDocument/2006/relationships/notesSlide" Target="/ppt/notesSlides/notesSlide5.xml" Id="Rdff88e4c10cb4fc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92a86b38b4383" /><Relationship Type="http://schemas.openxmlformats.org/officeDocument/2006/relationships/chart" Target="/ppt/slides/charts/chart3.xml" Id="Rf632e0b141e64c87" /><Relationship Type="http://schemas.openxmlformats.org/officeDocument/2006/relationships/notesSlide" Target="/ppt/notesSlides/notesSlide6.xml" Id="R2bc3a22ccefb4bd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e1dcbfc5964dc7" /><Relationship Type="http://schemas.openxmlformats.org/officeDocument/2006/relationships/notesSlide" Target="/ppt/notesSlides/notesSlide7.xml" Id="Rb148776ce7904c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acc4894a543f2" /><Relationship Type="http://schemas.openxmlformats.org/officeDocument/2006/relationships/notesSlide" Target="/ppt/notesSlides/notesSlide8.xml" Id="R35685b2c0492410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4d99e2f334c1a" /><Relationship Type="http://schemas.openxmlformats.org/officeDocument/2006/relationships/notesSlide" Target="/ppt/notesSlides/notesSlide9.xml" Id="R2b68c53388db4b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d97fb38194841" /><Relationship Type="http://schemas.openxmlformats.org/officeDocument/2006/relationships/notesSlide" Target="/ppt/notesSlides/notesSlide10.xml" Id="Rcc56416fbbc247c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Books</c:v>
          </c:tx>
          <c:spPr>
            <a:solidFill xmlns:a="http://schemas.openxmlformats.org/drawingml/2006/main">
              <a:srgbClr val="167A68"/>
            </a:solidFill>
          </c:spPr>
          <c:cat>
            <c:strRef>
              <c:f>'Chart Data'!$A$2:$A$3</c:f>
              <c:strCache>
                <c:ptCount val="2"/>
                <c:pt idx="0">
                  <c:v>Goodreads scrape</c:v>
                </c:pt>
                <c:pt idx="1">
                  <c:v>Open Library API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500</c:v>
                </c:pt>
                <c:pt idx="1">
                  <c:v>700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Books</c:v>
          </c:tx>
          <c:spPr>
            <a:solidFill xmlns:a="http://schemas.openxmlformats.org/drawingml/2006/main">
              <a:srgbClr val="167A68"/>
            </a:solidFill>
          </c:spPr>
          <c:cat>
            <c:strRef>
              <c:f>'Chart Data'!$A$2:$A$7</c:f>
              <c:strCache>
                <c:ptCount val="6"/>
                <c:pt idx="0">
                  <c:v>Agriculture</c:v>
                </c:pt>
                <c:pt idx="1">
                  <c:v>Baking and Pastry</c:v>
                </c:pt>
                <c:pt idx="2">
                  <c:v>Fermentation</c:v>
                </c:pt>
                <c:pt idx="3">
                  <c:v>Food Business</c:v>
                </c:pt>
                <c:pt idx="4">
                  <c:v>Food Safety</c:v>
                </c:pt>
                <c:pt idx="5">
                  <c:v>Nutrition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Silhouette score</c:v>
          </c:tx>
          <c:spPr>
            <a:ln xmlns:a="http://schemas.openxmlformats.org/drawingml/2006/main" w="28575">
              <a:solidFill>
                <a:srgbClr val="167A68"/>
              </a:solidFill>
            </a:ln>
          </c:spPr>
          <c:marker>
            <c:size val="8"/>
            <c:spPr>
              <a:solidFill xmlns:a="http://schemas.openxmlformats.org/drawingml/2006/main">
                <a:srgbClr val="167A68"/>
              </a:solidFill>
            </c:spPr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5</c:v>
                </c:pt>
                <c:pt idx="1">
                  <c:v>6</c:v>
                </c:pt>
                <c:pt idx="2">
                  <c:v>8</c:v>
                </c:pt>
                <c:pt idx="3">
                  <c:v>10</c:v>
                </c:pt>
                <c:pt idx="4">
                  <c:v>12</c:v>
                </c:pt>
                <c:pt idx="5">
                  <c:v>15</c:v>
                </c:pt>
                <c:pt idx="6">
                  <c:v>20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0.5791</c:v>
                </c:pt>
                <c:pt idx="1">
                  <c:v>0.6093</c:v>
                </c:pt>
                <c:pt idx="2">
                  <c:v>0.4888</c:v>
                </c:pt>
                <c:pt idx="3">
                  <c:v>0.383</c:v>
                </c:pt>
                <c:pt idx="4">
                  <c:v>0.342</c:v>
                </c:pt>
                <c:pt idx="5">
                  <c:v>0.282</c:v>
                </c:pt>
                <c:pt idx="6">
                  <c:v>0.2283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Bitstream Charter"/>
                  <a:ea typeface="Bitstream Charter"/>
                  <a:cs typeface="Bitstream Charter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SVD components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72768"/>
      </c:catAx>
      <c:valAx>
        <c:axId val="48672768"/>
        <c:scaling>
          <c:orientation val="minMax"/>
          <c:max val="0.75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Silhouette</a:t>
                </a:r>
              </a:p>
            </c:rich>
          </c:tx>
          <c:overlay val="0"/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Bitstream Charter"/>
                <a:ea typeface="Bitstream Charter"/>
                <a:cs typeface="Bitstream Charter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683860-EBDD-48DC-BE9E-1682E2B7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00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A2C2F2-4EA0-45AF-84C5-88135DE55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8001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FOOD +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5976E0-460F-44D4-B088-B31DBF80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352550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FoodWise Reads</a:t>
            </a:r>
          </a:p>
          <a:p xmlns:a="http://schemas.openxmlformats.org/drawingml/2006/main">
            <a:pPr algn="l">
              <a:buNone/>
              <a:def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7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Book Recommender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54499A-B239-4922-9265-A3A9EC900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38500"/>
            <a:ext cx="61912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A food-book discovery system using web scraping, APIs, leakage-controlled NLP, clustering, SQL and Streamlit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C60A29-39B1-4ED1-B45C-483ADDE0F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2197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Paul Omogiate Obamwonyi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5D021F-F647-4D40-9976-BB9C0363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6388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Ironhack Data Analytics</a:t>
            </a:r>
          </a:p>
        </p:txBody>
      </p:sp>
    </p:spTree>
    <p:extLst>
      <p:ext uri="{BB962C8B-B14F-4D97-AF65-F5344CB8AC3E}">
        <p14:creationId xmlns:p14="http://schemas.microsoft.com/office/powerpoint/2010/main" val="14722391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385F07-A560-45B3-BAD2-5F0906D8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99A56-00D9-4780-9D44-2E7F7BD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Problem and audience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6CE0B-F284-4301-A194-89103168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96A527-6475-4EEB-93D3-62EC6E5B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57300"/>
            <a:ext cx="10382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 professionals and interested readers need a practical way to move from one useful book to related material across the food system.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A460B-C339-4930-BC88-D6765A6B2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D7F218-3CAD-4166-8F8A-AFA1AFCC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00A5E-1600-42C8-A6A3-D0631F45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2575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27474-102C-4FC7-A171-91575004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Coverage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A67FA4-5B30-4099-B54E-B5F2A38A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14700"/>
            <a:ext cx="266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Baking and Pastry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Nutrition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Food Safety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Agriculture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Fermentation and Food Business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8CEC5A-E7EA-4935-8D06-2337FFB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Method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42AC35-18B0-49F5-B30E-8FC1DC9B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314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TF-IDF subject modelling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SVD semantic reduction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K-Means neighbourhoods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Cosine similarity ranking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3B2E0F-33B1-40FC-95F1-3558DAA6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User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B6365-54D9-467E-88E2-7E6E2103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66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Selects a known title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Receives related books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Sees covers and source links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Can filter the food domain</a:t>
            </a:r>
          </a:p>
        </p:txBody>
      </p:sp>
    </p:spTree>
    <p:extLst>
      <p:ext uri="{BB962C8B-B14F-4D97-AF65-F5344CB8AC3E}">
        <p14:creationId xmlns:p14="http://schemas.microsoft.com/office/powerpoint/2010/main" val="8428073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8A066-4348-46B5-8A9E-8062A0B34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7B031-299C-4498-8B73-C5399C8B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Two collection routes produced 1,196 unique books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9C61B-70AA-4F67-8C24-6C02E1A1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03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857250" y="1428750"/>
          <a:ext xmlns:a="http://schemas.openxmlformats.org/drawingml/2006/main" cx="619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bb02b9c8704f1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85F892-4F36-4608-B205-9CFEA5E55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15A98E-31CD-4F69-82CB-562A84D1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4003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cookbooks scraped from five public list pages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37E0F2-DA05-4595-9A48-4406D19C5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476625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4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700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40415-006E-4999-B0AB-72B23932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62425"/>
            <a:ext cx="3000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balanced food-domain API records collected before deduplication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31768-FE29-4E11-80F8-5A4CEC50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238750"/>
            <a:ext cx="3000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4 cross-source duplicates removed</a:t>
            </a:r>
          </a:p>
        </p:txBody>
      </p:sp>
    </p:spTree>
    <p:extLst>
      <p:ext uri="{BB962C8B-B14F-4D97-AF65-F5344CB8AC3E}">
        <p14:creationId xmlns:p14="http://schemas.microsoft.com/office/powerpoint/2010/main" val="1896048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2575F-85C5-4C85-B8FB-E2B1C8E1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112FCC-747A-4367-A85E-5B3E84B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Six balanced domains produce 600 modelled books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504265-67B8-40E9-ABB9-4B59AB2F0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04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857250" y="1238250"/>
          <a:ext xmlns:a="http://schemas.openxmlformats.org/drawingml/2006/main" cx="7239000" cy="4762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fe88db1ae394a3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043ED3-DFEB-4E80-A284-031D4EA7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476375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6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Cleaning decisions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FB0F3F-09EF-4AAE-B25D-8E9CB60D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38350"/>
            <a:ext cx="2714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Retained 1,196 unique collected records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Exceeded the 1,050-book target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Selected six clearer food domains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Sampled 100 books per domain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Removed collection labels from model text</a:t>
            </a:r>
          </a:p>
        </p:txBody>
      </p:sp>
    </p:spTree>
    <p:extLst>
      <p:ext uri="{BB962C8B-B14F-4D97-AF65-F5344CB8AC3E}">
        <p14:creationId xmlns:p14="http://schemas.microsoft.com/office/powerpoint/2010/main" val="6892633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AD42254-5005-420D-B33A-D398E7B8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8391D0-7306-428F-8A3A-4DEEEBDA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NLP and clustering pipeline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EE7BE3-E186-4A74-B2D2-07C16815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AE5445-40C4-4642-919D-E33C42DD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219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33FE-BA36-4C4E-B1F1-EC9BB3BD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3335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2BA6AF-B3C0-4338-8E82-7E66B98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2858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Book metadata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EF8CF-AC0D-4AB8-8569-3A16DE3F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525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Title and genuine subject metadata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3DFF2-31DE-471D-A1F9-1DDB827EB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51447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3092B-DEAE-4EA7-953B-2608CF9DA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82DED0-12AD-4F5A-93E2-16651E2A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F48A54-86B2-4B1D-8BEA-DD285BC8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574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TF-IDF features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49A836-B1EB-4686-BFA8-7BDD5E1AC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241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Unigrams and bigrams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B3E42-EB04-4C41-9556-F3B751EE3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48602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CD5D06-1100-489B-8659-32C4D081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69DA5-9A61-4E34-93D2-9AE38B54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2C9C52-A6AF-40DF-9613-96EB0D2D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289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SVD reduction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4D2B86-60DC-4DDB-94ED-9EDE53E28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956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Six semantic dimensions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1F220E-4F01-4580-A750-0317DD5CF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5757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C252B32-EF17-4F5F-99DA-A1373E5D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3385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F47C4B-1882-4ACB-B4A1-01627E4AB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4815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A5D4FD-571F-4FF1-87C9-884B3DDE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005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K-Means clusters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919BCF-07A3-4861-8479-2AC8600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46722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753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Six stable neighbourhoods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43337E-DC98-4667-9D14-6107344FA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429125"/>
            <a:ext cx="666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64F2A0-1470-4225-A835-8368967B1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DA204-0686-4269-A7A2-98717A0B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400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55213E-0826-46DA-A707-9DAE4E3F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720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Cosine 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D169F3-C766-4BC7-8037-8154A3EF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38775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618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Nearest books inside cluster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7CB804-0600-4148-AD36-FCED26E4E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28750"/>
            <a:ext cx="5524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102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3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final model excludes known domain and source-topic labels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52ED37-E7D0-4BAE-A185-34E9D4F2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81225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0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The pipeline removes each collection-topic phrase from subject text before TF-IDF. Five random seeds produced the same solution.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C82A1CD-5878-4854-BA4B-390F7248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38550"/>
            <a:ext cx="5619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448CCA-3BC5-4821-9844-E85470FC5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857625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Recommendation rule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F5CD35-2F49-4903-B90E-B7B750DB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0530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365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Same cluster first, then highest cosine similarity</a:t>
            </a:r>
          </a:p>
        </p:txBody>
      </p:sp>
    </p:spTree>
    <p:extLst>
      <p:ext uri="{BB962C8B-B14F-4D97-AF65-F5344CB8AC3E}">
        <p14:creationId xmlns:p14="http://schemas.microsoft.com/office/powerpoint/2010/main" val="121435600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44C3EC-1A26-4B3A-8B47-91516C6C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953C8B-A928-4D41-AAA2-45DA1CBC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Six focused clusters exceed the 0.50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A5806-85F2-449D-82C0-C5269928C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06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762000" y="1333500"/>
          <a:ext xmlns:a="http://schemas.openxmlformats.org/drawingml/2006/main" cx="7239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632e0b141e64c8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DF63B-D8FD-4A8C-B1DB-E0A3249A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240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513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Validation beyond silhouette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BBC2C-BBC7-40D6-BF4D-0376E7FA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38350"/>
            <a:ext cx="2571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5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expanded model keeps twice as many recommendation candidates while remaining above target.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0EEC81-4A3D-4BE1-B195-F736CA9E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2900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k =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022BEF-87A8-413A-A0B0-B92ED2F8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57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Silhouette: 0.6093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ARI: 0.6665   NMI: 0.6667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Cluster range: 81-125 books</a:t>
            </a:r>
          </a:p>
        </p:txBody>
      </p:sp>
    </p:spTree>
    <p:extLst>
      <p:ext uri="{BB962C8B-B14F-4D97-AF65-F5344CB8AC3E}">
        <p14:creationId xmlns:p14="http://schemas.microsoft.com/office/powerpoint/2010/main" val="15942958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D6FA5-B134-4A19-982B-ECE3686F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36470-D150-422D-8C30-0B26A1EA8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Recommendation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90C236-25E9-4F7E-ACF3-A2E071785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C1410D-4473-4B7C-A652-9CE831574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2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8E97F-0286-477F-A828-BFF0FC0DA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09B34D-E9D3-4A6E-8201-E7B0E8893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649690-5767-44E8-B164-04B3EF5C9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085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076B1-3C7A-424C-A6FD-BA0B5CF8E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162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Match the selected title and author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6B65A5-3A1E-4BF8-B765-AC48B411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30678-9176-432F-8930-D11BABEE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E08553-D3AB-41DA-92E7-4066EEC5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91616-C311-43DE-91D1-DCBD70B8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038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596456-54C5-4763-A36A-083EE42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14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Read its K-Means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B8D9F7-E7C6-47A2-8404-CFB58364D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28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B78A6-51B1-420E-AB55-ED5BC2A16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15DDEE-EE25-4CDC-BBFD-486BB358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09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940E5-8D25-47D7-9ED6-00AE6263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990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1EAC6-BA80-475E-8775-0FAD75F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67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Apply an optional food-domain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4D5BE2-41F7-427B-A210-411CB2FDB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A71B10-AB96-4105-921A-2267A0780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A151C4-92DB-46CC-9180-ECE07BC7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624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C734A0-E2C8-4E42-8933-84F04C54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433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A92DE1-E318-40A2-9291-7942213B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0195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Rank candidates by cosine similarity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96437-BB33-4DD8-91D0-46C9CB9A0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33950"/>
            <a:ext cx="495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2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A647C0-B32D-439D-BE05-FA9A3D6E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31843F-5915-4244-B8AA-6A856421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590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F5613C6-CB78-48BF-8873-363E17357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895850"/>
            <a:ext cx="8572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DC061F-542A-420D-84B9-DA479B78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72050"/>
            <a:ext cx="7953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725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Return books, covers and source links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CEA4E5-9A1C-4D8A-AE0E-A3FFEF366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611505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The selected book never recommends itself</a:t>
            </a:r>
          </a:p>
        </p:txBody>
      </p:sp>
    </p:spTree>
    <p:extLst>
      <p:ext uri="{BB962C8B-B14F-4D97-AF65-F5344CB8AC3E}">
        <p14:creationId xmlns:p14="http://schemas.microsoft.com/office/powerpoint/2010/main" val="703919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80D095-6232-4AB1-AC06-756C8A7DA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8F6A9-54C1-4118-8005-E97B251F2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Data engineering and Streamlit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23A31A-6A66-4BDB-B7DA-851F3D5B9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2FE4C3-2464-4036-8AE1-F2C90C4A0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4953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50A66C-4969-4723-A73D-0EBA69BB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57300"/>
            <a:ext cx="52387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E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52F687-AA6A-4F5C-928A-788F3C296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56210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SQLite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F2D1D-DAE0-4F9E-848F-9D154788D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Stores the clustered catalogue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Indexes title and cluster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Supports source counts, cluster sizes and top-rated queries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B0991-D3AA-4B73-ADEE-DC70C79A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621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7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Streamlit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95931-F124-42EC-BF76-49050E205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52650"/>
            <a:ext cx="4191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Searchable title-author selector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Three to ten recommendations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Six-domain filter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Cover images, similarity scores and source links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8125D-FF7F-43B6-92F1-1B3BA357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953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64736E"/>
                </a:solidFill>
                <a:latin typeface="Bitstream Charter"/>
                <a:ea typeface="Bitstream Charter"/>
                <a:cs typeface="Bitstream Charter"/>
              </a:rPr>
              <a:t>Proof of concept for browser delivery</a:t>
            </a:r>
          </a:p>
        </p:txBody>
      </p:sp>
    </p:spTree>
    <p:extLst>
      <p:ext uri="{BB962C8B-B14F-4D97-AF65-F5344CB8AC3E}">
        <p14:creationId xmlns:p14="http://schemas.microsoft.com/office/powerpoint/2010/main" val="12138956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9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C8829A-F80E-4115-A988-779928E0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37F32C-23D6-49D2-97F9-6D4CEB0C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550" b="1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Findings, limitations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8676F-2C2B-4CE8-AAD9-36A2AD01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572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D57DEB-DB53-48A6-98EB-0D30EC47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049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167A68"/>
                </a:solidFill>
                <a:latin typeface="Bitstream Charter"/>
                <a:ea typeface="Bitstream Charter"/>
                <a:cs typeface="Bitstream Charter"/>
              </a:rPr>
              <a:t>What the prototype proves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4D0D7-0742-48F9-8739-677B9CA78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4524375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catalogue exceeds the 1,050-book requirement.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expanded model still exceeds the 0.50 silhouette target.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Five random seeds reproduce the same 0.6093 score.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5F252-19C5-4848-9AF9-0DAD4297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04925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025" b="1">
                <a:solidFill>
                  <a:srgbClr val="D97706"/>
                </a:solidFill>
                <a:latin typeface="Bitstream Charter"/>
                <a:ea typeface="Bitstream Charter"/>
                <a:cs typeface="Bitstream Charter"/>
              </a:rPr>
              <a:t>What remains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07192-2874-44BA-B0BA-B09E5FC3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24050"/>
            <a:ext cx="44767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The model uses 600 balanced books from 1,196 unique records.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Metadata similarity cannot represent personal taste.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17312B"/>
                </a:solidFill>
                <a:latin typeface="Bitstream Charter"/>
                <a:ea typeface="Bitstream Charter"/>
                <a:cs typeface="Bitstream Charter"/>
              </a:rPr>
              <a:t>Some books still cross food-domain boundaries.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E6885-22CF-4A8D-BD12-3F01CFC2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76800"/>
            <a:ext cx="98869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6311D1-4A8F-4D47-8A6A-64B8DA96F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29200"/>
            <a:ext cx="923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97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FFFFFF"/>
                </a:solidFill>
                <a:latin typeface="Bitstream Charter"/>
                <a:ea typeface="Bitstream Charter"/>
                <a:cs typeface="Bitstream Charter"/>
              </a:rPr>
              <a:t>Next: combine content similarity with reader behaviour, then evaluate clicks, saves and ratings</a:t>
            </a:r>
          </a:p>
        </p:txBody>
      </p:sp>
    </p:spTree>
    <p:extLst>
      <p:ext uri="{BB962C8B-B14F-4D97-AF65-F5344CB8AC3E}">
        <p14:creationId xmlns:p14="http://schemas.microsoft.com/office/powerpoint/2010/main" val="2396528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055D74-A6D6-4ED5-830C-FF55C0B9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7F72"/>
          </a:solidFill>
          <a:ln xmlns:a="http://schemas.openxmlformats.org/drawingml/2006/main" w="0">
            <a:solidFill>
              <a:srgbClr val="177F72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C393B-FC54-4DB8-92FC-F86E266A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F8F1E5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 b="1">
                <a:solidFill>
                  <a:srgbClr val="F8F1E5"/>
                </a:solidFill>
                <a:latin typeface="Bitstream Charter"/>
                <a:ea typeface="Bitstream Charter"/>
                <a:cs typeface="Bitstream Charter"/>
              </a:rPr>
              <a:t>FOOD +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1234A5-51F8-498B-A42B-5FF1B8F4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666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73D3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350" b="1">
                <a:solidFill>
                  <a:srgbClr val="173D36"/>
                </a:solidFill>
                <a:latin typeface="Bitstream Charter"/>
                <a:ea typeface="Bitstream Charter"/>
                <a:cs typeface="Bitstream Charter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ACC208-93BE-44F4-A7B1-C77073EA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952750"/>
            <a:ext cx="590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78216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E78216"/>
                </a:solidFill>
                <a:latin typeface="Bitstream Charter"/>
                <a:ea typeface="Bitstream Charter"/>
                <a:cs typeface="Bitstream Charter"/>
              </a:rPr>
              <a:t>Questions?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6BF90E-08D1-4425-B149-16AAAAACC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905250"/>
            <a:ext cx="600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9675F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>
                <a:solidFill>
                  <a:srgbClr val="49675F"/>
                </a:solidFill>
                <a:latin typeface="Bitstream Charter"/>
                <a:ea typeface="Bitstream Charter"/>
                <a:cs typeface="Bitstream Charter"/>
              </a:rPr>
              <a:t>FoodWise Reads Book Recommender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B746E-48B6-4DDC-AE1F-D1C4DDFB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895850"/>
            <a:ext cx="4857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0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rPr>
              <a:t>Paul Omogiate Obamwonyi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CA627D-531E-474D-96D6-EB626720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2387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82958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00">
                <a:solidFill>
                  <a:srgbClr val="82958E"/>
                </a:solidFill>
                <a:latin typeface="Bitstream Charter"/>
                <a:ea typeface="Bitstream Charter"/>
                <a:cs typeface="Bitstream Charter"/>
              </a:rPr>
              <a:t>Ironhack Data Analytics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0B0860-1E3C-4DC9-860A-66AA3529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49530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750" b="1">
                <a:solidFill>
                  <a:srgbClr val="177F72"/>
                </a:solidFill>
                <a:latin typeface="Bitstream Charter"/>
                <a:ea typeface="Bitstream Charter"/>
                <a:cs typeface="Bitstream Charter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484354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2026-09-23T23:54:16.8870000Z</dcterms:created>
  <dcterms:modified xsi:type="dcterms:W3CDTF">2026-09-23T23:54:16.8870000Z</dcterms:modified>
</coreProperties>
</file>